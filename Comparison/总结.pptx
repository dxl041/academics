
<file path=[Content_Types].xml><?xml version="1.0" encoding="utf-8"?>
<Types xmlns="http://schemas.openxmlformats.org/package/2006/content-types">
  <Default Extension="jpeg" ContentType="image/jpeg"/>
  <Default Extension="JPG" ContentType="image/.jp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3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 showGuides="1">
      <p:cViewPr varScale="1">
        <p:scale>
          <a:sx n="116" d="100"/>
          <a:sy n="116" d="100"/>
        </p:scale>
        <p:origin x="336" y="10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6" Type="http://schemas.openxmlformats.org/officeDocument/2006/relationships/tableStyles" Target="tableStyles.xml"/><Relationship Id="rId5" Type="http://schemas.openxmlformats.org/officeDocument/2006/relationships/viewProps" Target="viewProps.xml"/><Relationship Id="rId4" Type="http://schemas.openxmlformats.org/officeDocument/2006/relationships/presProps" Target="presProps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smtClean="0"/>
              <a:t>单击此处编辑母版副标题样式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aphicFrame>
        <p:nvGraphicFramePr>
          <p:cNvPr id="4" name="表格 3"/>
          <p:cNvGraphicFramePr/>
          <p:nvPr/>
        </p:nvGraphicFramePr>
        <p:xfrm>
          <a:off x="516255" y="458470"/>
          <a:ext cx="11160125" cy="527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32000"/>
                <a:gridCol w="2232000"/>
                <a:gridCol w="2232000"/>
                <a:gridCol w="2232000"/>
                <a:gridCol w="2232000"/>
              </a:tblGrid>
              <a:tr h="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1400" b="0">
                          <a:solidFill>
                            <a:schemeClr val="tx1"/>
                          </a:solidFill>
                          <a:latin typeface="Calibri" panose="020F0502020204030204" charset="0"/>
                          <a:ea typeface="微软雅黑" panose="020B0503020204020204" charset="-122"/>
                        </a:rPr>
                        <a:t>现有研究</a:t>
                      </a:r>
                      <a:endParaRPr lang="zh-CN" altLang="en-US" sz="1400" b="0">
                        <a:solidFill>
                          <a:schemeClr val="tx1"/>
                        </a:solidFill>
                        <a:latin typeface="Calibri" panose="020F0502020204030204" charset="0"/>
                        <a:ea typeface="微软雅黑" panose="020B0503020204020204" charset="-122"/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1400" b="0">
                          <a:solidFill>
                            <a:schemeClr val="tx1"/>
                          </a:solidFill>
                          <a:latin typeface="Calibri" panose="020F0502020204030204" charset="0"/>
                          <a:ea typeface="微软雅黑" panose="020B0503020204020204" charset="-122"/>
                          <a:cs typeface="Calibri" panose="020F0502020204030204" charset="0"/>
                        </a:rPr>
                        <a:t>源路由方式</a:t>
                      </a:r>
                      <a:r>
                        <a:rPr lang="en-US" altLang="zh-CN" sz="1400" b="0">
                          <a:solidFill>
                            <a:schemeClr val="tx1"/>
                          </a:solidFill>
                          <a:latin typeface="Calibri" panose="020F0502020204030204" charset="0"/>
                          <a:ea typeface="微软雅黑" panose="020B0503020204020204" charset="-122"/>
                          <a:cs typeface="Calibri" panose="020F0502020204030204" charset="0"/>
                        </a:rPr>
                        <a:t>&amp;</a:t>
                      </a:r>
                      <a:r>
                        <a:rPr lang="zh-CN" altLang="en-US" sz="1400" b="0">
                          <a:solidFill>
                            <a:schemeClr val="tx1"/>
                          </a:solidFill>
                          <a:latin typeface="Calibri" panose="020F0502020204030204" charset="0"/>
                          <a:ea typeface="微软雅黑" panose="020B0503020204020204" charset="-122"/>
                          <a:cs typeface="Calibri" panose="020F0502020204030204" charset="0"/>
                        </a:rPr>
                        <a:t>选路策略</a:t>
                      </a:r>
                      <a:endParaRPr lang="zh-CN" altLang="en-US" sz="1400" b="0">
                        <a:solidFill>
                          <a:schemeClr val="tx1"/>
                        </a:solidFill>
                        <a:latin typeface="Calibri" panose="020F0502020204030204" charset="0"/>
                        <a:ea typeface="微软雅黑" panose="020B0503020204020204" charset="-122"/>
                        <a:cs typeface="Calibri" panose="020F0502020204030204" charset="0"/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1400" b="0">
                          <a:solidFill>
                            <a:schemeClr val="tx1"/>
                          </a:solidFill>
                          <a:latin typeface="Calibri" panose="020F0502020204030204" charset="0"/>
                          <a:ea typeface="微软雅黑" panose="020B0503020204020204" charset="-122"/>
                          <a:cs typeface="Calibri" panose="020F0502020204030204" charset="0"/>
                        </a:rPr>
                        <a:t>均衡粒度（乱序处理）</a:t>
                      </a:r>
                      <a:endParaRPr lang="zh-CN" altLang="en-US" sz="1400" b="0">
                        <a:solidFill>
                          <a:schemeClr val="tx1"/>
                        </a:solidFill>
                        <a:latin typeface="Calibri" panose="020F0502020204030204" charset="0"/>
                        <a:ea typeface="微软雅黑" panose="020B0503020204020204" charset="-122"/>
                        <a:cs typeface="Calibri" panose="020F0502020204030204" charset="0"/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1400" b="0">
                          <a:solidFill>
                            <a:schemeClr val="tx1"/>
                          </a:solidFill>
                          <a:latin typeface="Calibri" panose="020F0502020204030204" charset="0"/>
                          <a:ea typeface="微软雅黑" panose="020B0503020204020204" charset="-122"/>
                          <a:cs typeface="Calibri" panose="020F0502020204030204" charset="0"/>
                        </a:rPr>
                        <a:t>端侧开销</a:t>
                      </a:r>
                      <a:endParaRPr lang="zh-CN" altLang="en-US" sz="1400" b="0">
                        <a:solidFill>
                          <a:schemeClr val="tx1"/>
                        </a:solidFill>
                        <a:latin typeface="Calibri" panose="020F0502020204030204" charset="0"/>
                        <a:ea typeface="微软雅黑" panose="020B0503020204020204" charset="-122"/>
                        <a:cs typeface="Calibri" panose="020F0502020204030204" charset="0"/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1400" b="0">
                          <a:solidFill>
                            <a:schemeClr val="tx1"/>
                          </a:solidFill>
                          <a:latin typeface="Calibri" panose="020F0502020204030204" charset="0"/>
                          <a:ea typeface="微软雅黑" panose="020B0503020204020204" charset="-122"/>
                          <a:cs typeface="Calibri" panose="020F0502020204030204" charset="0"/>
                        </a:rPr>
                        <a:t>分析</a:t>
                      </a:r>
                      <a:endParaRPr lang="zh-CN" altLang="en-US" sz="1400" b="0">
                        <a:solidFill>
                          <a:schemeClr val="tx1"/>
                        </a:solidFill>
                        <a:latin typeface="Calibri" panose="020F0502020204030204" charset="0"/>
                        <a:ea typeface="微软雅黑" panose="020B0503020204020204" charset="-122"/>
                        <a:cs typeface="Calibri" panose="020F0502020204030204" charset="0"/>
                      </a:endParaRPr>
                    </a:p>
                  </a:txBody>
                  <a:tcPr anchor="ctr" anchorCtr="0"/>
                </a:tc>
              </a:tr>
              <a:tr h="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400" b="0">
                          <a:solidFill>
                            <a:schemeClr val="tx1"/>
                          </a:solidFill>
                          <a:latin typeface="Calibri" panose="020F0502020204030204" charset="0"/>
                          <a:ea typeface="微软雅黑" panose="020B0503020204020204" charset="-122"/>
                          <a:cs typeface="Calibri" panose="020F0502020204030204" charset="0"/>
                        </a:rPr>
                        <a:t>[Harp, NSDI’26]</a:t>
                      </a:r>
                      <a:endParaRPr lang="en-US" altLang="zh-CN" sz="1400" b="0">
                        <a:solidFill>
                          <a:schemeClr val="tx1"/>
                        </a:solidFill>
                        <a:latin typeface="Calibri" panose="020F0502020204030204" charset="0"/>
                        <a:ea typeface="微软雅黑" panose="020B0503020204020204" charset="-122"/>
                        <a:cs typeface="Calibri" panose="020F0502020204030204" charset="0"/>
                      </a:endParaRPr>
                    </a:p>
                    <a:p>
                      <a:pPr algn="ctr">
                        <a:buNone/>
                      </a:pPr>
                      <a:r>
                        <a:rPr lang="zh-CN" altLang="en-US" sz="1400" b="0">
                          <a:solidFill>
                            <a:schemeClr val="tx1"/>
                          </a:solidFill>
                          <a:latin typeface="Calibri" panose="020F0502020204030204" charset="0"/>
                          <a:ea typeface="微软雅黑" panose="020B0503020204020204" charset="-122"/>
                          <a:cs typeface="Calibri" panose="020F0502020204030204" charset="0"/>
                        </a:rPr>
                        <a:t>复旦张凯</a:t>
                      </a:r>
                      <a:r>
                        <a:rPr lang="en-US" altLang="zh-CN" sz="1400" b="0">
                          <a:solidFill>
                            <a:schemeClr val="tx1"/>
                          </a:solidFill>
                          <a:latin typeface="Calibri" panose="020F0502020204030204" charset="0"/>
                          <a:ea typeface="微软雅黑" panose="020B0503020204020204" charset="-122"/>
                          <a:cs typeface="Calibri" panose="020F0502020204030204" charset="0"/>
                        </a:rPr>
                        <a:t>+</a:t>
                      </a:r>
                      <a:r>
                        <a:rPr lang="zh-CN" altLang="en-US" sz="1400" b="0">
                          <a:solidFill>
                            <a:schemeClr val="tx1"/>
                          </a:solidFill>
                          <a:latin typeface="Calibri" panose="020F0502020204030204" charset="0"/>
                          <a:ea typeface="微软雅黑" panose="020B0503020204020204" charset="-122"/>
                          <a:cs typeface="Calibri" panose="020F0502020204030204" charset="0"/>
                        </a:rPr>
                        <a:t>腾讯</a:t>
                      </a:r>
                      <a:endParaRPr lang="zh-CN" altLang="en-US" sz="1400" b="0">
                        <a:solidFill>
                          <a:schemeClr val="tx1"/>
                        </a:solidFill>
                        <a:latin typeface="Calibri" panose="020F0502020204030204" charset="0"/>
                        <a:ea typeface="微软雅黑" panose="020B0503020204020204" charset="-122"/>
                        <a:cs typeface="Calibri" panose="020F0502020204030204" charset="0"/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400" b="0">
                          <a:solidFill>
                            <a:schemeClr val="tx1"/>
                          </a:solidFill>
                          <a:latin typeface="Calibri" panose="020F0502020204030204" charset="0"/>
                          <a:ea typeface="微软雅黑" panose="020B0503020204020204" charset="-122"/>
                          <a:cs typeface="Calibri" panose="020F0502020204030204" charset="0"/>
                        </a:rPr>
                        <a:t>VXLAN</a:t>
                      </a:r>
                      <a:r>
                        <a:rPr lang="zh-CN" altLang="en-US" sz="1400" b="0">
                          <a:solidFill>
                            <a:schemeClr val="tx1"/>
                          </a:solidFill>
                          <a:latin typeface="Calibri" panose="020F0502020204030204" charset="0"/>
                          <a:ea typeface="微软雅黑" panose="020B0503020204020204" charset="-122"/>
                          <a:cs typeface="Calibri" panose="020F0502020204030204" charset="0"/>
                        </a:rPr>
                        <a:t>源端口</a:t>
                      </a:r>
                      <a:endParaRPr lang="zh-CN" altLang="en-US" sz="1400" b="0">
                        <a:solidFill>
                          <a:schemeClr val="tx1"/>
                        </a:solidFill>
                        <a:latin typeface="Calibri" panose="020F0502020204030204" charset="0"/>
                        <a:ea typeface="微软雅黑" panose="020B0503020204020204" charset="-122"/>
                        <a:cs typeface="Calibri" panose="020F0502020204030204" charset="0"/>
                      </a:endParaRPr>
                    </a:p>
                    <a:p>
                      <a:pPr algn="ctr">
                        <a:buNone/>
                      </a:pPr>
                      <a:r>
                        <a:rPr lang="zh-CN" altLang="en-US" sz="1400" b="0">
                          <a:solidFill>
                            <a:schemeClr val="tx1"/>
                          </a:solidFill>
                          <a:latin typeface="Calibri" panose="020F0502020204030204" charset="0"/>
                          <a:ea typeface="微软雅黑" panose="020B0503020204020204" charset="-122"/>
                          <a:cs typeface="Calibri" panose="020F0502020204030204" charset="0"/>
                        </a:rPr>
                        <a:t>端侧维护路径状态表</a:t>
                      </a:r>
                      <a:endParaRPr lang="zh-CN" altLang="en-US" sz="1400" b="0">
                        <a:solidFill>
                          <a:schemeClr val="tx1"/>
                        </a:solidFill>
                        <a:latin typeface="Calibri" panose="020F0502020204030204" charset="0"/>
                        <a:ea typeface="微软雅黑" panose="020B0503020204020204" charset="-122"/>
                        <a:cs typeface="Calibri" panose="020F0502020204030204" charset="0"/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1400" b="0">
                        <a:solidFill>
                          <a:schemeClr val="tx1"/>
                        </a:solidFill>
                        <a:latin typeface="Calibri" panose="020F0502020204030204" charset="0"/>
                        <a:ea typeface="微软雅黑" panose="020B0503020204020204" charset="-122"/>
                        <a:cs typeface="Calibri" panose="020F0502020204030204" charset="0"/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1400" b="0">
                        <a:solidFill>
                          <a:schemeClr val="tx1"/>
                        </a:solidFill>
                        <a:latin typeface="Calibri" panose="020F0502020204030204" charset="0"/>
                        <a:ea typeface="微软雅黑" panose="020B0503020204020204" charset="-122"/>
                        <a:cs typeface="Calibri" panose="020F0502020204030204" charset="0"/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1400" b="0">
                          <a:solidFill>
                            <a:schemeClr val="tx1"/>
                          </a:solidFill>
                          <a:latin typeface="Calibri" panose="020F0502020204030204" charset="0"/>
                          <a:ea typeface="微软雅黑" panose="020B0503020204020204" charset="-122"/>
                          <a:cs typeface="Calibri" panose="020F0502020204030204" charset="0"/>
                        </a:rPr>
                        <a:t>仅适合故障换路</a:t>
                      </a:r>
                      <a:endParaRPr lang="zh-CN" altLang="en-US" sz="1400" b="0">
                        <a:solidFill>
                          <a:schemeClr val="tx1"/>
                        </a:solidFill>
                        <a:latin typeface="Calibri" panose="020F0502020204030204" charset="0"/>
                        <a:ea typeface="微软雅黑" panose="020B0503020204020204" charset="-122"/>
                        <a:cs typeface="Calibri" panose="020F0502020204030204" charset="0"/>
                      </a:endParaRPr>
                    </a:p>
                  </a:txBody>
                  <a:tcPr anchor="ctr" anchorCtr="0"/>
                </a:tc>
              </a:tr>
              <a:tr h="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400" b="0">
                          <a:solidFill>
                            <a:schemeClr val="tx1"/>
                          </a:solidFill>
                          <a:latin typeface="Calibri" panose="020F0502020204030204" charset="0"/>
                          <a:ea typeface="微软雅黑" panose="020B0503020204020204" charset="-122"/>
                          <a:cs typeface="Calibri" panose="020F0502020204030204" charset="0"/>
                        </a:rPr>
                        <a:t>[ZooRoute, NSDI’26]</a:t>
                      </a:r>
                      <a:endParaRPr lang="en-US" altLang="zh-CN" sz="1400" b="0">
                        <a:solidFill>
                          <a:schemeClr val="tx1"/>
                        </a:solidFill>
                        <a:latin typeface="Calibri" panose="020F0502020204030204" charset="0"/>
                        <a:ea typeface="微软雅黑" panose="020B0503020204020204" charset="-122"/>
                        <a:cs typeface="Calibri" panose="020F0502020204030204" charset="0"/>
                      </a:endParaRPr>
                    </a:p>
                    <a:p>
                      <a:pPr algn="ctr">
                        <a:buNone/>
                      </a:pPr>
                      <a:r>
                        <a:rPr lang="zh-CN" altLang="en-US" sz="1400" b="0">
                          <a:solidFill>
                            <a:schemeClr val="tx1"/>
                          </a:solidFill>
                          <a:latin typeface="Calibri" panose="020F0502020204030204" charset="0"/>
                          <a:ea typeface="微软雅黑" panose="020B0503020204020204" charset="-122"/>
                          <a:cs typeface="Calibri" panose="020F0502020204030204" charset="0"/>
                        </a:rPr>
                        <a:t>北邮潘恬</a:t>
                      </a:r>
                      <a:r>
                        <a:rPr lang="en-US" altLang="zh-CN" sz="1400" b="0">
                          <a:solidFill>
                            <a:schemeClr val="tx1"/>
                          </a:solidFill>
                          <a:latin typeface="Calibri" panose="020F0502020204030204" charset="0"/>
                          <a:ea typeface="微软雅黑" panose="020B0503020204020204" charset="-122"/>
                          <a:cs typeface="Calibri" panose="020F0502020204030204" charset="0"/>
                        </a:rPr>
                        <a:t>+</a:t>
                      </a:r>
                      <a:r>
                        <a:rPr lang="zh-CN" altLang="en-US" sz="1400" b="0">
                          <a:solidFill>
                            <a:schemeClr val="tx1"/>
                          </a:solidFill>
                          <a:latin typeface="Calibri" panose="020F0502020204030204" charset="0"/>
                          <a:ea typeface="微软雅黑" panose="020B0503020204020204" charset="-122"/>
                          <a:cs typeface="Calibri" panose="020F0502020204030204" charset="0"/>
                        </a:rPr>
                        <a:t>阿里云祝顺民</a:t>
                      </a:r>
                      <a:endParaRPr lang="zh-CN" altLang="en-US" sz="1400" b="0">
                        <a:solidFill>
                          <a:schemeClr val="tx1"/>
                        </a:solidFill>
                        <a:latin typeface="Calibri" panose="020F0502020204030204" charset="0"/>
                        <a:ea typeface="微软雅黑" panose="020B0503020204020204" charset="-122"/>
                        <a:cs typeface="Calibri" panose="020F0502020204030204" charset="0"/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400" b="0">
                          <a:solidFill>
                            <a:schemeClr val="tx1"/>
                          </a:solidFill>
                          <a:latin typeface="Calibri" panose="020F0502020204030204" charset="0"/>
                          <a:ea typeface="微软雅黑" panose="020B0503020204020204" charset="-122"/>
                          <a:cs typeface="Calibri" panose="020F0502020204030204" charset="0"/>
                        </a:rPr>
                        <a:t>VXLAN</a:t>
                      </a:r>
                      <a:r>
                        <a:rPr lang="zh-CN" altLang="en-US" sz="1400" b="0">
                          <a:solidFill>
                            <a:schemeClr val="tx1"/>
                          </a:solidFill>
                          <a:latin typeface="Calibri" panose="020F0502020204030204" charset="0"/>
                          <a:ea typeface="微软雅黑" panose="020B0503020204020204" charset="-122"/>
                          <a:cs typeface="Calibri" panose="020F0502020204030204" charset="0"/>
                        </a:rPr>
                        <a:t>源端口</a:t>
                      </a:r>
                      <a:endParaRPr lang="zh-CN" altLang="en-US" sz="1400" b="0">
                        <a:solidFill>
                          <a:schemeClr val="tx1"/>
                        </a:solidFill>
                        <a:latin typeface="Calibri" panose="020F0502020204030204" charset="0"/>
                        <a:ea typeface="微软雅黑" panose="020B0503020204020204" charset="-122"/>
                        <a:cs typeface="Calibri" panose="020F0502020204030204" charset="0"/>
                      </a:endParaRPr>
                    </a:p>
                    <a:p>
                      <a:pPr algn="ctr">
                        <a:buNone/>
                      </a:pPr>
                      <a:endParaRPr lang="zh-CN" altLang="en-US" sz="1400" b="0">
                        <a:solidFill>
                          <a:schemeClr val="tx1"/>
                        </a:solidFill>
                        <a:latin typeface="Calibri" panose="020F0502020204030204" charset="0"/>
                        <a:ea typeface="微软雅黑" panose="020B0503020204020204" charset="-122"/>
                        <a:cs typeface="Calibri" panose="020F0502020204030204" charset="0"/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1400" b="0">
                        <a:solidFill>
                          <a:schemeClr val="tx1"/>
                        </a:solidFill>
                        <a:latin typeface="Calibri" panose="020F0502020204030204" charset="0"/>
                        <a:ea typeface="微软雅黑" panose="020B0503020204020204" charset="-122"/>
                        <a:cs typeface="Calibri" panose="020F0502020204030204" charset="0"/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1400" b="0">
                        <a:solidFill>
                          <a:schemeClr val="tx1"/>
                        </a:solidFill>
                        <a:latin typeface="Calibri" panose="020F0502020204030204" charset="0"/>
                        <a:ea typeface="微软雅黑" panose="020B0503020204020204" charset="-122"/>
                        <a:cs typeface="Calibri" panose="020F0502020204030204" charset="0"/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1400" b="0">
                        <a:solidFill>
                          <a:schemeClr val="tx1"/>
                        </a:solidFill>
                        <a:latin typeface="Calibri" panose="020F0502020204030204" charset="0"/>
                        <a:ea typeface="微软雅黑" panose="020B0503020204020204" charset="-122"/>
                        <a:cs typeface="Calibri" panose="020F0502020204030204" charset="0"/>
                      </a:endParaRPr>
                    </a:p>
                  </a:txBody>
                  <a:tcPr anchor="ctr" anchorCtr="0"/>
                </a:tc>
              </a:tr>
              <a:tr h="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400" b="0">
                          <a:solidFill>
                            <a:schemeClr val="tx1"/>
                          </a:solidFill>
                          <a:latin typeface="Calibri" panose="020F0502020204030204" charset="0"/>
                          <a:ea typeface="微软雅黑" panose="020B0503020204020204" charset="-122"/>
                          <a:cs typeface="Calibri" panose="020F0502020204030204" charset="0"/>
                        </a:rPr>
                        <a:t>[BiFrost, NSDI’26]</a:t>
                      </a:r>
                      <a:endParaRPr lang="en-US" altLang="zh-CN" sz="1400" b="0">
                        <a:solidFill>
                          <a:schemeClr val="tx1"/>
                        </a:solidFill>
                        <a:latin typeface="Calibri" panose="020F0502020204030204" charset="0"/>
                        <a:ea typeface="微软雅黑" panose="020B0503020204020204" charset="-122"/>
                        <a:cs typeface="Calibri" panose="020F0502020204030204" charset="0"/>
                      </a:endParaRPr>
                    </a:p>
                    <a:p>
                      <a:pPr algn="ctr">
                        <a:buNone/>
                      </a:pPr>
                      <a:r>
                        <a:rPr lang="zh-CN" altLang="en-US" sz="1400" b="0">
                          <a:solidFill>
                            <a:schemeClr val="tx1"/>
                          </a:solidFill>
                          <a:latin typeface="Calibri" panose="020F0502020204030204" charset="0"/>
                          <a:ea typeface="微软雅黑" panose="020B0503020204020204" charset="-122"/>
                          <a:cs typeface="Calibri" panose="020F0502020204030204" charset="0"/>
                        </a:rPr>
                        <a:t>上交江波</a:t>
                      </a:r>
                      <a:r>
                        <a:rPr lang="en-US" altLang="zh-CN" sz="1400" b="0">
                          <a:solidFill>
                            <a:schemeClr val="tx1"/>
                          </a:solidFill>
                          <a:latin typeface="Calibri" panose="020F0502020204030204" charset="0"/>
                          <a:ea typeface="微软雅黑" panose="020B0503020204020204" charset="-122"/>
                          <a:cs typeface="Calibri" panose="020F0502020204030204" charset="0"/>
                        </a:rPr>
                        <a:t>+</a:t>
                      </a:r>
                      <a:r>
                        <a:rPr lang="zh-CN" altLang="en-US" sz="1400" b="0">
                          <a:solidFill>
                            <a:schemeClr val="tx1"/>
                          </a:solidFill>
                          <a:latin typeface="Calibri" panose="020F0502020204030204" charset="0"/>
                          <a:ea typeface="微软雅黑" panose="020B0503020204020204" charset="-122"/>
                          <a:cs typeface="Calibri" panose="020F0502020204030204" charset="0"/>
                        </a:rPr>
                        <a:t>阿里云祝顺民</a:t>
                      </a:r>
                      <a:endParaRPr lang="en-US" altLang="zh-CN" sz="1400" b="0">
                        <a:solidFill>
                          <a:schemeClr val="tx1"/>
                        </a:solidFill>
                        <a:latin typeface="Calibri" panose="020F0502020204030204" charset="0"/>
                        <a:ea typeface="微软雅黑" panose="020B0503020204020204" charset="-122"/>
                        <a:cs typeface="Calibri" panose="020F0502020204030204" charset="0"/>
                      </a:endParaRPr>
                    </a:p>
                    <a:p>
                      <a:pPr algn="ctr">
                        <a:buNone/>
                      </a:pPr>
                      <a:endParaRPr lang="en-US" altLang="zh-CN" sz="1400" b="0">
                        <a:solidFill>
                          <a:schemeClr val="tx1"/>
                        </a:solidFill>
                        <a:latin typeface="Calibri" panose="020F0502020204030204" charset="0"/>
                        <a:ea typeface="微软雅黑" panose="020B0503020204020204" charset="-122"/>
                        <a:cs typeface="Calibri" panose="020F0502020204030204" charset="0"/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400" b="0">
                          <a:solidFill>
                            <a:schemeClr val="tx1"/>
                          </a:solidFill>
                          <a:latin typeface="Calibri" panose="020F0502020204030204" charset="0"/>
                          <a:ea typeface="微软雅黑" panose="020B0503020204020204" charset="-122"/>
                          <a:cs typeface="Calibri" panose="020F0502020204030204" charset="0"/>
                        </a:rPr>
                        <a:t>VXLAN</a:t>
                      </a:r>
                      <a:r>
                        <a:rPr lang="zh-CN" altLang="en-US" sz="1400" b="0">
                          <a:solidFill>
                            <a:schemeClr val="tx1"/>
                          </a:solidFill>
                          <a:latin typeface="Calibri" panose="020F0502020204030204" charset="0"/>
                          <a:ea typeface="微软雅黑" panose="020B0503020204020204" charset="-122"/>
                          <a:cs typeface="Calibri" panose="020F0502020204030204" charset="0"/>
                        </a:rPr>
                        <a:t>源端口</a:t>
                      </a:r>
                      <a:endParaRPr lang="zh-CN" altLang="en-US" sz="1400" b="0">
                        <a:solidFill>
                          <a:schemeClr val="tx1"/>
                        </a:solidFill>
                        <a:latin typeface="Calibri" panose="020F0502020204030204" charset="0"/>
                        <a:ea typeface="微软雅黑" panose="020B0503020204020204" charset="-122"/>
                        <a:cs typeface="Calibri" panose="020F0502020204030204" charset="0"/>
                      </a:endParaRPr>
                    </a:p>
                    <a:p>
                      <a:pPr algn="ctr">
                        <a:buNone/>
                      </a:pPr>
                      <a:endParaRPr lang="zh-CN" altLang="en-US" sz="1400" b="0">
                        <a:solidFill>
                          <a:schemeClr val="tx1"/>
                        </a:solidFill>
                        <a:latin typeface="Calibri" panose="020F0502020204030204" charset="0"/>
                        <a:ea typeface="微软雅黑" panose="020B0503020204020204" charset="-122"/>
                        <a:cs typeface="Calibri" panose="020F0502020204030204" charset="0"/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1400" b="0">
                        <a:solidFill>
                          <a:schemeClr val="tx1"/>
                        </a:solidFill>
                        <a:latin typeface="Calibri" panose="020F0502020204030204" charset="0"/>
                        <a:ea typeface="微软雅黑" panose="020B0503020204020204" charset="-122"/>
                        <a:cs typeface="Calibri" panose="020F0502020204030204" charset="0"/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1400" b="0">
                        <a:solidFill>
                          <a:schemeClr val="tx1"/>
                        </a:solidFill>
                        <a:latin typeface="Calibri" panose="020F0502020204030204" charset="0"/>
                        <a:ea typeface="微软雅黑" panose="020B0503020204020204" charset="-122"/>
                        <a:cs typeface="Calibri" panose="020F0502020204030204" charset="0"/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1400" b="0">
                        <a:solidFill>
                          <a:schemeClr val="tx1"/>
                        </a:solidFill>
                        <a:latin typeface="Calibri" panose="020F0502020204030204" charset="0"/>
                        <a:ea typeface="微软雅黑" panose="020B0503020204020204" charset="-122"/>
                        <a:cs typeface="Calibri" panose="020F0502020204030204" charset="0"/>
                      </a:endParaRPr>
                    </a:p>
                  </a:txBody>
                  <a:tcPr anchor="ctr" anchorCtr="0"/>
                </a:tc>
              </a:tr>
              <a:tr h="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400" b="0">
                          <a:solidFill>
                            <a:schemeClr val="tx1"/>
                          </a:solidFill>
                          <a:latin typeface="Calibri" panose="020F0502020204030204" charset="0"/>
                          <a:ea typeface="微软雅黑" panose="020B0503020204020204" charset="-122"/>
                          <a:cs typeface="Calibri" panose="020F0502020204030204" charset="0"/>
                        </a:rPr>
                        <a:t>[REPS, EuroSys‘26]</a:t>
                      </a:r>
                      <a:endParaRPr lang="en-US" altLang="zh-CN" sz="1400" b="0">
                        <a:solidFill>
                          <a:schemeClr val="tx1"/>
                        </a:solidFill>
                        <a:latin typeface="Calibri" panose="020F0502020204030204" charset="0"/>
                        <a:ea typeface="微软雅黑" panose="020B0503020204020204" charset="-122"/>
                        <a:cs typeface="Calibri" panose="020F0502020204030204" charset="0"/>
                      </a:endParaRPr>
                    </a:p>
                    <a:p>
                      <a:pPr algn="ctr">
                        <a:buNone/>
                      </a:pPr>
                      <a:r>
                        <a:rPr lang="en-US" altLang="zh-CN" sz="1400" b="0">
                          <a:solidFill>
                            <a:schemeClr val="tx1"/>
                          </a:solidFill>
                          <a:latin typeface="Calibri" panose="020F0502020204030204" charset="0"/>
                          <a:ea typeface="微软雅黑" panose="020B0503020204020204" charset="-122"/>
                          <a:cs typeface="Calibri" panose="020F0502020204030204" charset="0"/>
                        </a:rPr>
                        <a:t>ETH Torsten+</a:t>
                      </a:r>
                      <a:r>
                        <a:rPr lang="zh-CN" altLang="en-US" sz="1400" b="0">
                          <a:solidFill>
                            <a:schemeClr val="tx1"/>
                          </a:solidFill>
                          <a:latin typeface="Calibri" panose="020F0502020204030204" charset="0"/>
                          <a:ea typeface="微软雅黑" panose="020B0503020204020204" charset="-122"/>
                          <a:cs typeface="Calibri" panose="020F0502020204030204" charset="0"/>
                        </a:rPr>
                        <a:t>微软</a:t>
                      </a:r>
                      <a:endParaRPr lang="zh-CN" altLang="en-US" sz="1400" b="0">
                        <a:solidFill>
                          <a:schemeClr val="tx1"/>
                        </a:solidFill>
                        <a:latin typeface="Calibri" panose="020F0502020204030204" charset="0"/>
                        <a:ea typeface="微软雅黑" panose="020B0503020204020204" charset="-122"/>
                        <a:cs typeface="Calibri" panose="020F0502020204030204" charset="0"/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1400" b="0">
                        <a:solidFill>
                          <a:schemeClr val="tx1"/>
                        </a:solidFill>
                        <a:latin typeface="Calibri" panose="020F0502020204030204" charset="0"/>
                        <a:ea typeface="微软雅黑" panose="020B0503020204020204" charset="-122"/>
                        <a:cs typeface="Calibri" panose="020F0502020204030204" charset="0"/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1400" b="0">
                        <a:solidFill>
                          <a:schemeClr val="tx1"/>
                        </a:solidFill>
                        <a:latin typeface="Calibri" panose="020F0502020204030204" charset="0"/>
                        <a:ea typeface="微软雅黑" panose="020B0503020204020204" charset="-122"/>
                        <a:cs typeface="Calibri" panose="020F0502020204030204" charset="0"/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1400" b="0">
                        <a:solidFill>
                          <a:schemeClr val="tx1"/>
                        </a:solidFill>
                        <a:latin typeface="Calibri" panose="020F0502020204030204" charset="0"/>
                        <a:ea typeface="微软雅黑" panose="020B0503020204020204" charset="-122"/>
                        <a:cs typeface="Calibri" panose="020F0502020204030204" charset="0"/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1400" b="0">
                        <a:solidFill>
                          <a:schemeClr val="tx1"/>
                        </a:solidFill>
                        <a:latin typeface="Calibri" panose="020F0502020204030204" charset="0"/>
                        <a:ea typeface="微软雅黑" panose="020B0503020204020204" charset="-122"/>
                        <a:cs typeface="Calibri" panose="020F0502020204030204" charset="0"/>
                      </a:endParaRPr>
                    </a:p>
                  </a:txBody>
                  <a:tcPr anchor="ctr" anchorCtr="0"/>
                </a:tc>
              </a:tr>
              <a:tr h="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400" b="0">
                          <a:solidFill>
                            <a:schemeClr val="tx1"/>
                          </a:solidFill>
                          <a:latin typeface="Calibri" panose="020F0502020204030204" charset="0"/>
                          <a:ea typeface="微软雅黑" panose="020B0503020204020204" charset="-122"/>
                          <a:cs typeface="Calibri" panose="020F0502020204030204" charset="0"/>
                        </a:rPr>
                        <a:t>[VeRoCE, 2026]</a:t>
                      </a:r>
                      <a:endParaRPr lang="en-US" altLang="zh-CN" sz="1400" b="0">
                        <a:solidFill>
                          <a:schemeClr val="tx1"/>
                        </a:solidFill>
                        <a:latin typeface="Calibri" panose="020F0502020204030204" charset="0"/>
                        <a:ea typeface="微软雅黑" panose="020B0503020204020204" charset="-122"/>
                        <a:cs typeface="Calibri" panose="020F0502020204030204" charset="0"/>
                      </a:endParaRPr>
                    </a:p>
                    <a:p>
                      <a:pPr algn="ctr">
                        <a:buNone/>
                      </a:pPr>
                      <a:r>
                        <a:rPr lang="zh-CN" altLang="en-US" sz="1400" b="0">
                          <a:solidFill>
                            <a:schemeClr val="tx1"/>
                          </a:solidFill>
                          <a:latin typeface="Calibri" panose="020F0502020204030204" charset="0"/>
                          <a:ea typeface="微软雅黑" panose="020B0503020204020204" charset="-122"/>
                          <a:cs typeface="Calibri" panose="020F0502020204030204" charset="0"/>
                        </a:rPr>
                        <a:t>字节</a:t>
                      </a:r>
                      <a:endParaRPr lang="zh-CN" altLang="en-US" sz="1400" b="0">
                        <a:solidFill>
                          <a:schemeClr val="tx1"/>
                        </a:solidFill>
                        <a:latin typeface="Calibri" panose="020F0502020204030204" charset="0"/>
                        <a:ea typeface="微软雅黑" panose="020B0503020204020204" charset="-122"/>
                        <a:cs typeface="Calibri" panose="020F0502020204030204" charset="0"/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1400" b="0">
                        <a:solidFill>
                          <a:schemeClr val="tx1"/>
                        </a:solidFill>
                        <a:latin typeface="Calibri" panose="020F0502020204030204" charset="0"/>
                        <a:ea typeface="微软雅黑" panose="020B0503020204020204" charset="-122"/>
                        <a:cs typeface="Calibri" panose="020F0502020204030204" charset="0"/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1400" b="0">
                        <a:solidFill>
                          <a:schemeClr val="tx1"/>
                        </a:solidFill>
                        <a:latin typeface="Calibri" panose="020F0502020204030204" charset="0"/>
                        <a:ea typeface="微软雅黑" panose="020B0503020204020204" charset="-122"/>
                        <a:cs typeface="Calibri" panose="020F0502020204030204" charset="0"/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1400" b="0">
                        <a:solidFill>
                          <a:schemeClr val="tx1"/>
                        </a:solidFill>
                        <a:latin typeface="Calibri" panose="020F0502020204030204" charset="0"/>
                        <a:ea typeface="微软雅黑" panose="020B0503020204020204" charset="-122"/>
                        <a:cs typeface="Calibri" panose="020F0502020204030204" charset="0"/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1400" b="0">
                        <a:solidFill>
                          <a:schemeClr val="tx1"/>
                        </a:solidFill>
                        <a:latin typeface="Calibri" panose="020F0502020204030204" charset="0"/>
                        <a:ea typeface="微软雅黑" panose="020B0503020204020204" charset="-122"/>
                        <a:cs typeface="Calibri" panose="020F0502020204030204" charset="0"/>
                      </a:endParaRPr>
                    </a:p>
                  </a:txBody>
                  <a:tcPr anchor="ctr" anchorCtr="0"/>
                </a:tc>
              </a:tr>
              <a:tr h="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400" b="0">
                          <a:solidFill>
                            <a:schemeClr val="tx1"/>
                          </a:solidFill>
                          <a:latin typeface="Calibri" panose="020F0502020204030204" charset="0"/>
                          <a:ea typeface="微软雅黑" panose="020B0503020204020204" charset="-122"/>
                          <a:cs typeface="Calibri" panose="020F0502020204030204" charset="0"/>
                        </a:rPr>
                        <a:t>[MRC, 2026]</a:t>
                      </a:r>
                      <a:endParaRPr lang="en-US" altLang="zh-CN" sz="1400" b="0">
                        <a:solidFill>
                          <a:schemeClr val="tx1"/>
                        </a:solidFill>
                        <a:latin typeface="Calibri" panose="020F0502020204030204" charset="0"/>
                        <a:ea typeface="微软雅黑" panose="020B0503020204020204" charset="-122"/>
                        <a:cs typeface="Calibri" panose="020F0502020204030204" charset="0"/>
                      </a:endParaRPr>
                    </a:p>
                    <a:p>
                      <a:pPr algn="ctr">
                        <a:buNone/>
                      </a:pPr>
                      <a:r>
                        <a:rPr lang="en-US" altLang="zh-CN" sz="1400" b="0">
                          <a:solidFill>
                            <a:schemeClr val="tx1"/>
                          </a:solidFill>
                          <a:latin typeface="Calibri" panose="020F0502020204030204" charset="0"/>
                          <a:ea typeface="微软雅黑" panose="020B0503020204020204" charset="-122"/>
                          <a:cs typeface="Calibri" panose="020F0502020204030204" charset="0"/>
                        </a:rPr>
                        <a:t>OpenAI+</a:t>
                      </a:r>
                      <a:r>
                        <a:rPr lang="zh-CN" altLang="zh-CN" sz="1400" b="0">
                          <a:solidFill>
                            <a:schemeClr val="tx1"/>
                          </a:solidFill>
                          <a:latin typeface="Calibri" panose="020F0502020204030204" charset="0"/>
                          <a:ea typeface="微软雅黑" panose="020B0503020204020204" charset="-122"/>
                          <a:cs typeface="Calibri" panose="020F0502020204030204" charset="0"/>
                        </a:rPr>
                        <a:t>微软</a:t>
                      </a:r>
                      <a:r>
                        <a:rPr lang="en-US" altLang="zh-CN" sz="1400" b="0">
                          <a:solidFill>
                            <a:schemeClr val="tx1"/>
                          </a:solidFill>
                          <a:latin typeface="Calibri" panose="020F0502020204030204" charset="0"/>
                          <a:ea typeface="微软雅黑" panose="020B0503020204020204" charset="-122"/>
                          <a:cs typeface="Calibri" panose="020F0502020204030204" charset="0"/>
                        </a:rPr>
                        <a:t>+AMD+</a:t>
                      </a:r>
                      <a:r>
                        <a:rPr lang="zh-CN" altLang="zh-CN" sz="1400" b="0">
                          <a:solidFill>
                            <a:schemeClr val="tx1"/>
                          </a:solidFill>
                          <a:latin typeface="Calibri" panose="020F0502020204030204" charset="0"/>
                          <a:ea typeface="微软雅黑" panose="020B0503020204020204" charset="-122"/>
                          <a:cs typeface="Calibri" panose="020F0502020204030204" charset="0"/>
                        </a:rPr>
                        <a:t>博通</a:t>
                      </a:r>
                      <a:r>
                        <a:rPr lang="en-US" altLang="zh-CN" sz="1400" b="0">
                          <a:solidFill>
                            <a:schemeClr val="tx1"/>
                          </a:solidFill>
                          <a:latin typeface="Calibri" panose="020F0502020204030204" charset="0"/>
                          <a:ea typeface="微软雅黑" panose="020B0503020204020204" charset="-122"/>
                          <a:cs typeface="Calibri" panose="020F0502020204030204" charset="0"/>
                        </a:rPr>
                        <a:t>+Nvidia</a:t>
                      </a:r>
                      <a:endParaRPr lang="en-US" altLang="zh-CN" sz="1400" b="0">
                        <a:solidFill>
                          <a:schemeClr val="tx1"/>
                        </a:solidFill>
                        <a:latin typeface="Calibri" panose="020F0502020204030204" charset="0"/>
                        <a:ea typeface="微软雅黑" panose="020B0503020204020204" charset="-122"/>
                        <a:cs typeface="Calibri" panose="020F0502020204030204" charset="0"/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1400" b="0">
                        <a:solidFill>
                          <a:schemeClr val="tx1"/>
                        </a:solidFill>
                        <a:latin typeface="Calibri" panose="020F0502020204030204" charset="0"/>
                        <a:ea typeface="微软雅黑" panose="020B0503020204020204" charset="-122"/>
                        <a:cs typeface="Calibri" panose="020F0502020204030204" charset="0"/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1400" b="0">
                        <a:solidFill>
                          <a:schemeClr val="tx1"/>
                        </a:solidFill>
                        <a:latin typeface="Calibri" panose="020F0502020204030204" charset="0"/>
                        <a:ea typeface="微软雅黑" panose="020B0503020204020204" charset="-122"/>
                        <a:cs typeface="Calibri" panose="020F0502020204030204" charset="0"/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1400" b="0">
                        <a:solidFill>
                          <a:schemeClr val="tx1"/>
                        </a:solidFill>
                        <a:latin typeface="Calibri" panose="020F0502020204030204" charset="0"/>
                        <a:ea typeface="微软雅黑" panose="020B0503020204020204" charset="-122"/>
                        <a:cs typeface="Calibri" panose="020F0502020204030204" charset="0"/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1400" b="0">
                        <a:solidFill>
                          <a:schemeClr val="tx1"/>
                        </a:solidFill>
                        <a:latin typeface="Calibri" panose="020F0502020204030204" charset="0"/>
                        <a:ea typeface="微软雅黑" panose="020B0503020204020204" charset="-122"/>
                        <a:cs typeface="Calibri" panose="020F0502020204030204" charset="0"/>
                      </a:endParaRPr>
                    </a:p>
                  </a:txBody>
                  <a:tcPr anchor="ctr" anchorCtr="0"/>
                </a:tc>
              </a:tr>
            </a:tbl>
          </a:graphicData>
        </a:graphic>
      </p:graphicFrame>
      <p:sp>
        <p:nvSpPr>
          <p:cNvPr id="6" name="文本框 5"/>
          <p:cNvSpPr txBox="1"/>
          <p:nvPr/>
        </p:nvSpPr>
        <p:spPr>
          <a:xfrm>
            <a:off x="2377440" y="5314950"/>
            <a:ext cx="6652895" cy="95313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400">
                <a:latin typeface="微软雅黑" panose="020B0503020204020204" charset="-122"/>
                <a:ea typeface="微软雅黑" panose="020B0503020204020204" charset="-122"/>
              </a:rPr>
              <a:t>强端弱网背景下，负载均衡转移到端侧，网内是静态的传输管道（</a:t>
            </a:r>
            <a:r>
              <a:rPr lang="en-US" altLang="zh-CN" sz="1400">
                <a:latin typeface="微软雅黑" panose="020B0503020204020204" charset="-122"/>
                <a:ea typeface="微软雅黑" panose="020B0503020204020204" charset="-122"/>
              </a:rPr>
              <a:t>ECMP</a:t>
            </a:r>
            <a:r>
              <a:rPr lang="zh-CN" altLang="en-US" sz="1400">
                <a:latin typeface="微软雅黑" panose="020B0503020204020204" charset="-122"/>
                <a:ea typeface="微软雅黑" panose="020B0503020204020204" charset="-122"/>
              </a:rPr>
              <a:t>哈希或静默执行</a:t>
            </a:r>
            <a:r>
              <a:rPr lang="en-US" altLang="zh-CN" sz="1400">
                <a:latin typeface="微软雅黑" panose="020B0503020204020204" charset="-122"/>
                <a:ea typeface="微软雅黑" panose="020B0503020204020204" charset="-122"/>
              </a:rPr>
              <a:t>SRv6</a:t>
            </a:r>
            <a:r>
              <a:rPr lang="zh-CN" altLang="en-US" sz="1400">
                <a:latin typeface="微软雅黑" panose="020B0503020204020204" charset="-122"/>
                <a:ea typeface="微软雅黑" panose="020B0503020204020204" charset="-122"/>
              </a:rPr>
              <a:t>）；也许适合故障切换，但端侧能否承担负载均衡功能？</a:t>
            </a:r>
            <a:endParaRPr lang="zh-CN" altLang="en-US" sz="1400">
              <a:latin typeface="微软雅黑" panose="020B0503020204020204" charset="-122"/>
              <a:ea typeface="微软雅黑" panose="020B0503020204020204" charset="-122"/>
            </a:endParaRPr>
          </a:p>
          <a:p>
            <a:r>
              <a:rPr lang="en-US" altLang="zh-CN" sz="1400">
                <a:latin typeface="微软雅黑" panose="020B0503020204020204" charset="-122"/>
                <a:ea typeface="微软雅黑" panose="020B0503020204020204" charset="-122"/>
              </a:rPr>
              <a:t>——</a:t>
            </a:r>
            <a:r>
              <a:rPr lang="zh-CN" altLang="en-US" sz="1400">
                <a:latin typeface="微软雅黑" panose="020B0503020204020204" charset="-122"/>
                <a:ea typeface="微软雅黑" panose="020B0503020204020204" charset="-122"/>
              </a:rPr>
              <a:t>交换机才是感知路径状态的第一场所，而且不同流、不同端侧维护的路径状态信息是互不感知的，极大可能在网内碰撞，导致不断切换路径、难以收敛</a:t>
            </a:r>
            <a:endParaRPr lang="zh-CN" altLang="en-US" sz="1400"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370</Words>
  <Application>WPS 演示</Application>
  <PresentationFormat>宽屏</PresentationFormat>
  <Paragraphs>43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8" baseType="lpstr">
      <vt:lpstr>Arial</vt:lpstr>
      <vt:lpstr>宋体</vt:lpstr>
      <vt:lpstr>Wingdings</vt:lpstr>
      <vt:lpstr>Arial Unicode MS</vt:lpstr>
      <vt:lpstr>Calibri</vt:lpstr>
      <vt:lpstr>微软雅黑</vt:lpstr>
      <vt:lpstr>WPS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Windows11</dc:creator>
  <cp:lastModifiedBy>dxl</cp:lastModifiedBy>
  <cp:revision>19</cp:revision>
  <dcterms:created xsi:type="dcterms:W3CDTF">2023-08-09T12:44:00Z</dcterms:created>
  <dcterms:modified xsi:type="dcterms:W3CDTF">2026-07-19T14:51:44Z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2052-12.1.0.26895</vt:lpwstr>
  </property>
  <property fmtid="{D5CDD505-2E9C-101B-9397-08002B2CF9AE}" pid="3" name="ICV">
    <vt:lpwstr>23076AA259E247809A4B9A6BC009FAF5_12</vt:lpwstr>
  </property>
</Properties>
</file>